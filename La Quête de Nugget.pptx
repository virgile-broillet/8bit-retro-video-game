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regular r:id="rId11"/>
    </p:embeddedFont>
    <p:embeddedFont>
      <p:font typeface="Helvetica World Italics" panose="020B0604020202020204" charset="-12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28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3" Type="http://schemas.openxmlformats.org/officeDocument/2006/relationships/image" Target="../media/image1.svg"/><Relationship Id="rId7" Type="http://schemas.openxmlformats.org/officeDocument/2006/relationships/image" Target="../media/image11.gif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11" Type="http://schemas.openxmlformats.org/officeDocument/2006/relationships/image" Target="../media/image4.png"/><Relationship Id="rId5" Type="http://schemas.openxmlformats.org/officeDocument/2006/relationships/image" Target="../media/image9.gif"/><Relationship Id="rId10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3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gif"/><Relationship Id="rId5" Type="http://schemas.openxmlformats.org/officeDocument/2006/relationships/image" Target="../media/image16.gif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7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gif"/><Relationship Id="rId4" Type="http://schemas.openxmlformats.org/officeDocument/2006/relationships/image" Target="../media/image1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6277873" y="6380939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1" y="0"/>
                </a:lnTo>
                <a:lnTo>
                  <a:pt x="7024991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1028700" y="8621240"/>
            <a:ext cx="16230600" cy="0"/>
          </a:xfrm>
          <a:prstGeom prst="line">
            <a:avLst/>
          </a:prstGeom>
          <a:ln w="9525" cap="flat">
            <a:solidFill>
              <a:srgbClr val="C4E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5400000">
            <a:off x="10234309" y="0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4519169"/>
            <a:ext cx="15113159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  <a:spcBef>
                <a:spcPct val="0"/>
              </a:spcBef>
            </a:pPr>
            <a:r>
              <a:rPr lang="en-US" sz="7200" b="1" u="none" strike="noStrike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 QUÊTE DE NUGGET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997809"/>
            <a:ext cx="10746868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Création numérique : Albert Merino GOMEZ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75568" y="9712060"/>
            <a:ext cx="5944704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Groupe : BROILLET Vrigile, POT Séréna, THOMAS Maély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712060"/>
            <a:ext cx="1233894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08/04/2026</a:t>
            </a:r>
          </a:p>
        </p:txBody>
      </p:sp>
      <p:sp>
        <p:nvSpPr>
          <p:cNvPr id="9" name="Freeform 9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560908" y="3226574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2" y="0"/>
                </a:lnTo>
                <a:lnTo>
                  <a:pt x="7024992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5400000">
            <a:off x="3840399" y="1721390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1" y="0"/>
                </a:lnTo>
                <a:lnTo>
                  <a:pt x="7024991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850418" y="1448753"/>
            <a:ext cx="10829509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  <a:spcBef>
                <a:spcPct val="0"/>
              </a:spcBef>
            </a:pPr>
            <a:r>
              <a:rPr lang="en-US" sz="7200" b="1" u="none" strike="noStrike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TABLE DES MATIÈRES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0418" y="3226574"/>
            <a:ext cx="13335151" cy="4665828"/>
            <a:chOff x="0" y="0"/>
            <a:chExt cx="17780201" cy="6221105"/>
          </a:xfrm>
        </p:grpSpPr>
        <p:sp>
          <p:nvSpPr>
            <p:cNvPr id="6" name="TextBox 6"/>
            <p:cNvSpPr txBox="1"/>
            <p:nvPr/>
          </p:nvSpPr>
          <p:spPr>
            <a:xfrm>
              <a:off x="0" y="-66675"/>
              <a:ext cx="8600192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3" lvl="1" indent="-302256" algn="just">
                <a:lnSpc>
                  <a:spcPts val="3919"/>
                </a:lnSpc>
                <a:spcBef>
                  <a:spcPct val="0"/>
                </a:spcBef>
                <a:buAutoNum type="arabicPeriod"/>
              </a:pP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Presentation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générale</a:t>
              </a:r>
              <a:endParaRPr lang="en-US" sz="2799" spc="-27" dirty="0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343873"/>
              <a:ext cx="8600192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57" lvl="1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2.Pourquoi Unity ?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54420"/>
              <a:ext cx="8600192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57" lvl="1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3.Sprites et animations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64968"/>
              <a:ext cx="1335530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57" lvl="1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4. Les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difficultés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rencontrées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et comment les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résoudre</a:t>
              </a:r>
              <a:endParaRPr lang="en-US" sz="2799" spc="-27" dirty="0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588855"/>
              <a:ext cx="17780201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57" lvl="1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pc="-27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5.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Qu’avons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-nous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tiré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ce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projet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? En quoi est-il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bénéfique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pour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notre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799" spc="-27" dirty="0" err="1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expérience</a:t>
              </a:r>
              <a:r>
                <a:rPr lang="en-US" sz="2799" spc="-27" dirty="0">
                  <a:solidFill>
                    <a:srgbClr val="C4EC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?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258863" y="4782324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5400000">
            <a:off x="6771358" y="1126487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2" y="0"/>
                </a:lnTo>
                <a:lnTo>
                  <a:pt x="7024992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996538" y="2917592"/>
            <a:ext cx="7299351" cy="4333990"/>
          </a:xfrm>
          <a:custGeom>
            <a:avLst/>
            <a:gdLst/>
            <a:ahLst/>
            <a:cxnLst/>
            <a:rect l="l" t="t" r="r" b="b"/>
            <a:pathLst>
              <a:path w="7299351" h="4333990">
                <a:moveTo>
                  <a:pt x="0" y="0"/>
                </a:moveTo>
                <a:lnTo>
                  <a:pt x="7299351" y="0"/>
                </a:lnTo>
                <a:lnTo>
                  <a:pt x="7299351" y="4333990"/>
                </a:lnTo>
                <a:lnTo>
                  <a:pt x="0" y="43339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2235298" y="2409715"/>
            <a:ext cx="5593796" cy="3390467"/>
          </a:xfrm>
          <a:custGeom>
            <a:avLst/>
            <a:gdLst/>
            <a:ahLst/>
            <a:cxnLst/>
            <a:rect l="l" t="t" r="r" b="b"/>
            <a:pathLst>
              <a:path w="5593796" h="3390467">
                <a:moveTo>
                  <a:pt x="0" y="0"/>
                </a:moveTo>
                <a:lnTo>
                  <a:pt x="5593795" y="0"/>
                </a:lnTo>
                <a:lnTo>
                  <a:pt x="5593795" y="3390467"/>
                </a:lnTo>
                <a:lnTo>
                  <a:pt x="0" y="33904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8492749" y="5847807"/>
            <a:ext cx="5568789" cy="4004604"/>
          </a:xfrm>
          <a:custGeom>
            <a:avLst/>
            <a:gdLst/>
            <a:ahLst/>
            <a:cxnLst/>
            <a:rect l="l" t="t" r="r" b="b"/>
            <a:pathLst>
              <a:path w="5568789" h="4004604">
                <a:moveTo>
                  <a:pt x="0" y="0"/>
                </a:moveTo>
                <a:lnTo>
                  <a:pt x="5568788" y="0"/>
                </a:lnTo>
                <a:lnTo>
                  <a:pt x="5568788" y="4004604"/>
                </a:lnTo>
                <a:lnTo>
                  <a:pt x="0" y="40046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850418" y="1448753"/>
            <a:ext cx="12047285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  <a:spcBef>
                <a:spcPct val="0"/>
              </a:spcBef>
            </a:pPr>
            <a:r>
              <a:rPr lang="en-US" sz="7200" b="1" u="none" strike="noStrike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PRÉSENTATION GÉNÉRALE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9856448" y="4126122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5400000">
            <a:off x="7422610" y="1143624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1" y="0"/>
                </a:lnTo>
                <a:lnTo>
                  <a:pt x="7024991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850418" y="2712528"/>
            <a:ext cx="14750882" cy="650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 u="sng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1.Un moteur professionnel, utilisé dans l’industrie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i="1" spc="-22">
                <a:solidFill>
                  <a:srgbClr val="C4EC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Unity</a:t>
            </a: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est l’un des moteurs de jeu les plus utilisés dans le monde, notamment pour les petits jeux 2D &amp; 3D</a:t>
            </a:r>
          </a:p>
          <a:p>
            <a:pPr algn="l">
              <a:lnSpc>
                <a:spcPts val="3161"/>
              </a:lnSpc>
            </a:pPr>
            <a:endParaRPr lang="en-US" sz="2258" spc="-22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161"/>
              </a:lnSpc>
            </a:pPr>
            <a:r>
              <a:rPr lang="en-US" sz="2258" u="sng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Un outil adapté à la modélisation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i="1" spc="-22">
                <a:solidFill>
                  <a:srgbClr val="C4EC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Unity</a:t>
            </a: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permet d’intégrer facilement des personnages en pixel art, offrant une identité visuelle claire et cohérente au jeu.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Les animations, comme les attaques, les phases d’attente et les déplacements, rendent le gameplay plus dynamique.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gestion des collisions, notamment avec les hitbox, les ennemis et les zones interactives, permettent de créer  des interactions précises et réalistes.</a:t>
            </a:r>
          </a:p>
          <a:p>
            <a:pPr algn="l">
              <a:lnSpc>
                <a:spcPts val="3161"/>
              </a:lnSpc>
            </a:pPr>
            <a:endParaRPr lang="en-US" sz="2258" spc="-22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161"/>
              </a:lnSpc>
            </a:pPr>
            <a:r>
              <a:rPr lang="en-US" sz="2258" u="sng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Une excellente plateforme pour la programmation (C#)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i="1" spc="-22">
                <a:solidFill>
                  <a:srgbClr val="C4EC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Unity</a:t>
            </a: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permet de structurer efficacement la logique du jeu, facilitant la gestion des interactions et des mécaniques.</a:t>
            </a:r>
          </a:p>
          <a:p>
            <a:pPr marL="487582" lvl="1" indent="-243791" algn="l">
              <a:lnSpc>
                <a:spcPts val="3161"/>
              </a:lnSpc>
              <a:buFont typeface="Arial"/>
              <a:buChar char="•"/>
            </a:pP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Les évènements permettent de gérer les actions du joueur, les déplacements, les attaques ou les interactions. </a:t>
            </a:r>
          </a:p>
          <a:p>
            <a:pPr marL="487582" lvl="1" indent="-243791" algn="l">
              <a:lnSpc>
                <a:spcPts val="3161"/>
              </a:lnSpc>
              <a:spcBef>
                <a:spcPct val="0"/>
              </a:spcBef>
              <a:buFont typeface="Arial"/>
              <a:buChar char="•"/>
            </a:pPr>
            <a:r>
              <a:rPr lang="en-US" sz="2258" i="1" spc="-22">
                <a:solidFill>
                  <a:srgbClr val="C4EC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Unity</a:t>
            </a:r>
            <a:r>
              <a:rPr lang="en-US" sz="2258" spc="-22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offre une grande flexibilité pour faire évoluer le projet.</a:t>
            </a:r>
          </a:p>
          <a:p>
            <a:pPr algn="l">
              <a:lnSpc>
                <a:spcPts val="3161"/>
              </a:lnSpc>
              <a:spcBef>
                <a:spcPct val="0"/>
              </a:spcBef>
            </a:pPr>
            <a:endParaRPr lang="en-US" sz="2258" spc="-22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418" y="1448753"/>
            <a:ext cx="12047285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  <a:spcBef>
                <a:spcPct val="0"/>
              </a:spcBef>
            </a:pPr>
            <a:r>
              <a:rPr lang="en-US" sz="7200" b="1" u="none" strike="noStrike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POURQUOI UNITY ?</a:t>
            </a:r>
          </a:p>
        </p:txBody>
      </p:sp>
      <p:sp>
        <p:nvSpPr>
          <p:cNvPr id="7" name="Freeform 7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687928" y="6628686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2" y="0"/>
                </a:lnTo>
                <a:lnTo>
                  <a:pt x="7024992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5400000">
            <a:off x="3538436" y="0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2" y="0"/>
                </a:lnTo>
                <a:lnTo>
                  <a:pt x="7024992" y="7024991"/>
                </a:lnTo>
                <a:lnTo>
                  <a:pt x="0" y="70249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-5400000">
            <a:off x="11955699" y="6380939"/>
            <a:ext cx="7024991" cy="3582211"/>
          </a:xfrm>
          <a:custGeom>
            <a:avLst/>
            <a:gdLst/>
            <a:ahLst/>
            <a:cxnLst/>
            <a:rect l="l" t="t" r="r" b="b"/>
            <a:pathLst>
              <a:path w="7024991" h="3582211">
                <a:moveTo>
                  <a:pt x="0" y="0"/>
                </a:moveTo>
                <a:lnTo>
                  <a:pt x="7024991" y="0"/>
                </a:lnTo>
                <a:lnTo>
                  <a:pt x="7024991" y="3582211"/>
                </a:lnTo>
                <a:lnTo>
                  <a:pt x="0" y="3582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1563602" y="5937964"/>
            <a:ext cx="2668202" cy="2668202"/>
          </a:xfrm>
          <a:custGeom>
            <a:avLst/>
            <a:gdLst/>
            <a:ahLst/>
            <a:cxnLst/>
            <a:rect l="l" t="t" r="r" b="b"/>
            <a:pathLst>
              <a:path w="2668202" h="2668202">
                <a:moveTo>
                  <a:pt x="0" y="0"/>
                </a:moveTo>
                <a:lnTo>
                  <a:pt x="2668202" y="0"/>
                </a:lnTo>
                <a:lnTo>
                  <a:pt x="2668202" y="2668202"/>
                </a:lnTo>
                <a:lnTo>
                  <a:pt x="0" y="2668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842449" y="3954078"/>
            <a:ext cx="3801048" cy="380104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1440682" y="1815006"/>
            <a:ext cx="4160617" cy="3328494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4204648" y="3954078"/>
            <a:ext cx="2477770" cy="247777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965332" y="6286819"/>
            <a:ext cx="3770452" cy="3770452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4698023" y="5532120"/>
            <a:ext cx="2887672" cy="288767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43394" y="4019220"/>
            <a:ext cx="7553053" cy="29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5149" lvl="1" indent="-262575" algn="l">
              <a:lnSpc>
                <a:spcPts val="3405"/>
              </a:lnSpc>
              <a:buFont typeface="Arial"/>
              <a:buChar char="•"/>
            </a:pPr>
            <a:r>
              <a:rPr lang="en-US" sz="2432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Création des animations du personnage pour rendre le jeu plus dynamique</a:t>
            </a:r>
          </a:p>
          <a:p>
            <a:pPr algn="l">
              <a:lnSpc>
                <a:spcPts val="3405"/>
              </a:lnSpc>
            </a:pPr>
            <a:endParaRPr lang="en-US" sz="2432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25149" lvl="1" indent="-262575" algn="l">
              <a:lnSpc>
                <a:spcPts val="3405"/>
              </a:lnSpc>
              <a:buFont typeface="Arial"/>
              <a:buChar char="•"/>
            </a:pPr>
            <a:r>
              <a:rPr lang="en-US" sz="2432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Mise en place d’animations pour les interactions</a:t>
            </a:r>
          </a:p>
          <a:p>
            <a:pPr algn="l">
              <a:lnSpc>
                <a:spcPts val="3405"/>
              </a:lnSpc>
            </a:pPr>
            <a:endParaRPr lang="en-US" sz="2432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25149" lvl="1" indent="-262575" algn="l">
              <a:lnSpc>
                <a:spcPts val="3405"/>
              </a:lnSpc>
              <a:buFont typeface="Arial"/>
              <a:buChar char="•"/>
            </a:pPr>
            <a:r>
              <a:rPr lang="en-US" sz="2432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Intégration des sprites dans Unity</a:t>
            </a:r>
          </a:p>
          <a:p>
            <a:pPr algn="l">
              <a:lnSpc>
                <a:spcPts val="3405"/>
              </a:lnSpc>
              <a:spcBef>
                <a:spcPct val="0"/>
              </a:spcBef>
            </a:pPr>
            <a:endParaRPr lang="en-US" sz="2432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418" y="1448753"/>
            <a:ext cx="12047285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7200" b="1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SPRITES ET ANIMATIONS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418" y="2448956"/>
            <a:ext cx="867857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Tous entièrement réalisés sur Piskel et principalement issus d’inspirations sur Pinterest 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Freeform 17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2364125" y="-891138"/>
            <a:ext cx="7024991" cy="7024991"/>
          </a:xfrm>
          <a:custGeom>
            <a:avLst/>
            <a:gdLst/>
            <a:ahLst/>
            <a:cxnLst/>
            <a:rect l="l" t="t" r="r" b="b"/>
            <a:pathLst>
              <a:path w="7024991" h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850418" y="2448956"/>
            <a:ext cx="758519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Essentiellement lié au C# de Unity et à la partie développement / animation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-2713299" y="4548826"/>
            <a:ext cx="10387235" cy="5296699"/>
          </a:xfrm>
          <a:custGeom>
            <a:avLst/>
            <a:gdLst/>
            <a:ahLst/>
            <a:cxnLst/>
            <a:rect l="l" t="t" r="r" b="b"/>
            <a:pathLst>
              <a:path w="10387235" h="5296699">
                <a:moveTo>
                  <a:pt x="0" y="0"/>
                </a:moveTo>
                <a:lnTo>
                  <a:pt x="10387236" y="0"/>
                </a:lnTo>
                <a:lnTo>
                  <a:pt x="10387236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9560897" y="2734236"/>
            <a:ext cx="8058176" cy="4119743"/>
          </a:xfrm>
          <a:custGeom>
            <a:avLst/>
            <a:gdLst/>
            <a:ahLst/>
            <a:cxnLst/>
            <a:rect l="l" t="t" r="r" b="b"/>
            <a:pathLst>
              <a:path w="8058176" h="4119743">
                <a:moveTo>
                  <a:pt x="0" y="0"/>
                </a:moveTo>
                <a:lnTo>
                  <a:pt x="8058176" y="0"/>
                </a:lnTo>
                <a:lnTo>
                  <a:pt x="8058176" y="4119743"/>
                </a:lnTo>
                <a:lnTo>
                  <a:pt x="0" y="4119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9144000" y="7364494"/>
            <a:ext cx="2380439" cy="2380439"/>
          </a:xfrm>
          <a:custGeom>
            <a:avLst/>
            <a:gdLst/>
            <a:ahLst/>
            <a:cxnLst/>
            <a:rect l="l" t="t" r="r" b="b"/>
            <a:pathLst>
              <a:path w="2380439" h="2380439">
                <a:moveTo>
                  <a:pt x="0" y="0"/>
                </a:moveTo>
                <a:lnTo>
                  <a:pt x="2380439" y="0"/>
                </a:lnTo>
                <a:lnTo>
                  <a:pt x="2380439" y="2380438"/>
                </a:lnTo>
                <a:lnTo>
                  <a:pt x="0" y="2380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695323" y="6853979"/>
            <a:ext cx="2639468" cy="263946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158732" y="6836824"/>
            <a:ext cx="3435778" cy="3435778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50635" y="4145740"/>
            <a:ext cx="8384757" cy="305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7531" lvl="1" indent="-268766" algn="l">
              <a:lnSpc>
                <a:spcPts val="3485"/>
              </a:lnSpc>
              <a:buFont typeface="Arial"/>
              <a:buChar char="•"/>
            </a:pPr>
            <a:r>
              <a:rPr lang="en-US" sz="2489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Utilisation de plusieurs scènes (incorporations dans le projet)</a:t>
            </a:r>
          </a:p>
          <a:p>
            <a:pPr algn="l">
              <a:lnSpc>
                <a:spcPts val="3485"/>
              </a:lnSpc>
            </a:pPr>
            <a:endParaRPr lang="en-US" sz="2489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37531" lvl="1" indent="-268766" algn="l">
              <a:lnSpc>
                <a:spcPts val="3485"/>
              </a:lnSpc>
              <a:buFont typeface="Arial"/>
              <a:buChar char="•"/>
            </a:pPr>
            <a:r>
              <a:rPr lang="en-US" sz="2489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Mises en place d’Animations complexes comme l’attaque avec l’épée</a:t>
            </a:r>
          </a:p>
          <a:p>
            <a:pPr algn="l">
              <a:lnSpc>
                <a:spcPts val="3485"/>
              </a:lnSpc>
            </a:pPr>
            <a:endParaRPr lang="en-US" sz="2489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537531" lvl="1" indent="-268766" algn="l">
              <a:lnSpc>
                <a:spcPts val="3485"/>
              </a:lnSpc>
              <a:spcBef>
                <a:spcPct val="0"/>
              </a:spcBef>
              <a:buFont typeface="Arial"/>
              <a:buChar char="•"/>
            </a:pPr>
            <a:r>
              <a:rPr lang="en-US" sz="2489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Maintenir une cohérence de style parmi les travaux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0418" y="1448753"/>
            <a:ext cx="12739567" cy="90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7200" b="1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DIFFICULTÉS RENCONTRÉES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034274" y="4582888"/>
            <a:ext cx="8418995" cy="4293046"/>
          </a:xfrm>
          <a:custGeom>
            <a:avLst/>
            <a:gdLst/>
            <a:ahLst/>
            <a:cxnLst/>
            <a:rect l="l" t="t" r="r" b="b"/>
            <a:pathLst>
              <a:path w="8418995" h="4293046">
                <a:moveTo>
                  <a:pt x="0" y="0"/>
                </a:moveTo>
                <a:lnTo>
                  <a:pt x="8418995" y="0"/>
                </a:lnTo>
                <a:lnTo>
                  <a:pt x="8418995" y="4293047"/>
                </a:lnTo>
                <a:lnTo>
                  <a:pt x="0" y="429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5400000">
            <a:off x="2787979" y="1047762"/>
            <a:ext cx="8418995" cy="4293046"/>
          </a:xfrm>
          <a:custGeom>
            <a:avLst/>
            <a:gdLst/>
            <a:ahLst/>
            <a:cxnLst/>
            <a:rect l="l" t="t" r="r" b="b"/>
            <a:pathLst>
              <a:path w="8418995" h="4293046">
                <a:moveTo>
                  <a:pt x="0" y="0"/>
                </a:moveTo>
                <a:lnTo>
                  <a:pt x="8418995" y="0"/>
                </a:lnTo>
                <a:lnTo>
                  <a:pt x="8418995" y="4293046"/>
                </a:lnTo>
                <a:lnTo>
                  <a:pt x="0" y="4293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162570" y="3511657"/>
            <a:ext cx="3423811" cy="3417098"/>
          </a:xfrm>
          <a:custGeom>
            <a:avLst/>
            <a:gdLst/>
            <a:ahLst/>
            <a:cxnLst/>
            <a:rect l="l" t="t" r="r" b="b"/>
            <a:pathLst>
              <a:path w="3423811" h="3417098">
                <a:moveTo>
                  <a:pt x="0" y="0"/>
                </a:moveTo>
                <a:lnTo>
                  <a:pt x="3423811" y="0"/>
                </a:lnTo>
                <a:lnTo>
                  <a:pt x="3423811" y="3417098"/>
                </a:lnTo>
                <a:lnTo>
                  <a:pt x="0" y="341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5649132" y="3146660"/>
            <a:ext cx="11305469" cy="589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•Structurer un projet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•Partir d’une idée abstraite pour en créer une application concrète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•La répartition sur du long terme du temp de travail en équipe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•Modélisation d’Animations complexes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•Nombreuses sont les animations qui on été plus complexes a faire qu’il n’en parait 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•Développement de nos compétences personnelles </a:t>
            </a:r>
          </a:p>
          <a:p>
            <a:pPr algn="l">
              <a:lnSpc>
                <a:spcPts val="3383"/>
              </a:lnSpc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l">
              <a:lnSpc>
                <a:spcPts val="3383"/>
              </a:lnSpc>
            </a:pPr>
            <a:r>
              <a:rPr lang="en-US" sz="2417" spc="-24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•Développement C# / Dessin ect…</a:t>
            </a:r>
          </a:p>
          <a:p>
            <a:pPr algn="l">
              <a:lnSpc>
                <a:spcPts val="3383"/>
              </a:lnSpc>
              <a:spcBef>
                <a:spcPct val="0"/>
              </a:spcBef>
            </a:pPr>
            <a:endParaRPr lang="en-US" sz="2417" spc="-24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0418" y="1448753"/>
            <a:ext cx="12739567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7200" b="1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QU’AVONS-NOUS APPRIS ?</a:t>
            </a:r>
          </a:p>
        </p:txBody>
      </p:sp>
      <p:sp>
        <p:nvSpPr>
          <p:cNvPr id="8" name="Freeform 8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5037862" y="1914783"/>
            <a:ext cx="8883172" cy="4529741"/>
          </a:xfrm>
          <a:custGeom>
            <a:avLst/>
            <a:gdLst/>
            <a:ahLst/>
            <a:cxnLst/>
            <a:rect l="l" t="t" r="r" b="b"/>
            <a:pathLst>
              <a:path w="8883172" h="4529741">
                <a:moveTo>
                  <a:pt x="0" y="0"/>
                </a:moveTo>
                <a:lnTo>
                  <a:pt x="8883172" y="0"/>
                </a:lnTo>
                <a:lnTo>
                  <a:pt x="8883172" y="4529741"/>
                </a:lnTo>
                <a:lnTo>
                  <a:pt x="0" y="45297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-5400000">
            <a:off x="2469748" y="5872718"/>
            <a:ext cx="6284859" cy="3204799"/>
          </a:xfrm>
          <a:custGeom>
            <a:avLst/>
            <a:gdLst/>
            <a:ahLst/>
            <a:cxnLst/>
            <a:rect l="l" t="t" r="r" b="b"/>
            <a:pathLst>
              <a:path w="6284859" h="3204799">
                <a:moveTo>
                  <a:pt x="0" y="0"/>
                </a:moveTo>
                <a:lnTo>
                  <a:pt x="6284859" y="0"/>
                </a:lnTo>
                <a:lnTo>
                  <a:pt x="6284859" y="3204800"/>
                </a:lnTo>
                <a:lnTo>
                  <a:pt x="0" y="320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9610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>
            <a:off x="1028700" y="8621240"/>
            <a:ext cx="16230600" cy="0"/>
          </a:xfrm>
          <a:prstGeom prst="line">
            <a:avLst/>
          </a:prstGeom>
          <a:ln w="9525" cap="flat">
            <a:solidFill>
              <a:srgbClr val="C4EC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44000" y="4472305"/>
            <a:ext cx="3370959" cy="3370959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865117" y="6175434"/>
            <a:ext cx="1299684" cy="1299684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34910" y="6175434"/>
            <a:ext cx="1513430" cy="151343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50418" y="2266652"/>
            <a:ext cx="16044333" cy="91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2"/>
              </a:lnSpc>
              <a:spcBef>
                <a:spcPct val="0"/>
              </a:spcBef>
            </a:pPr>
            <a:r>
              <a:rPr lang="en-US" sz="7200" b="1" u="none" strike="noStrike" spc="-215">
                <a:solidFill>
                  <a:srgbClr val="C4EC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MERCI POUR VOTRE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942070"/>
            <a:ext cx="2818542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08/04/2026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418" y="3743959"/>
            <a:ext cx="7407686" cy="139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-26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Virgile, Serena, Maely</a:t>
            </a:r>
          </a:p>
          <a:p>
            <a:pPr algn="l">
              <a:lnSpc>
                <a:spcPts val="3779"/>
              </a:lnSpc>
            </a:pPr>
            <a:r>
              <a:rPr lang="en-US" sz="2699" spc="-26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Université Lumière Lyon 2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699" spc="-26">
              <a:solidFill>
                <a:srgbClr val="C4EC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0418" y="574819"/>
            <a:ext cx="2230163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17">
                <a:solidFill>
                  <a:srgbClr val="C4EC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quête de Nugget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37618" y="45056"/>
            <a:ext cx="1843364" cy="983644"/>
          </a:xfrm>
          <a:custGeom>
            <a:avLst/>
            <a:gdLst/>
            <a:ahLst/>
            <a:cxnLst/>
            <a:rect l="l" t="t" r="r" b="b"/>
            <a:pathLst>
              <a:path w="1843364" h="983644">
                <a:moveTo>
                  <a:pt x="0" y="0"/>
                </a:moveTo>
                <a:lnTo>
                  <a:pt x="1843364" y="0"/>
                </a:lnTo>
                <a:lnTo>
                  <a:pt x="1843364" y="983644"/>
                </a:lnTo>
                <a:lnTo>
                  <a:pt x="0" y="983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15462702" y="81885"/>
            <a:ext cx="1081118" cy="1081118"/>
          </a:xfrm>
          <a:custGeom>
            <a:avLst/>
            <a:gdLst/>
            <a:ahLst/>
            <a:cxnLst/>
            <a:rect l="l" t="t" r="r" b="b"/>
            <a:pathLst>
              <a:path w="1081118" h="1081118">
                <a:moveTo>
                  <a:pt x="0" y="0"/>
                </a:moveTo>
                <a:lnTo>
                  <a:pt x="1081117" y="0"/>
                </a:lnTo>
                <a:lnTo>
                  <a:pt x="1081117" y="1081118"/>
                </a:lnTo>
                <a:lnTo>
                  <a:pt x="0" y="1081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Personnalisé</PresentationFormat>
  <Paragraphs>63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Calibri</vt:lpstr>
      <vt:lpstr>Helvetica World Bold</vt:lpstr>
      <vt:lpstr>Helvetica World</vt:lpstr>
      <vt:lpstr>Helvetica World Italics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Pink Gradient Futuristic Artificial Intelligence Presentation</dc:title>
  <cp:lastModifiedBy>Virgile Broillet</cp:lastModifiedBy>
  <cp:revision>3</cp:revision>
  <dcterms:created xsi:type="dcterms:W3CDTF">2006-08-16T00:00:00Z</dcterms:created>
  <dcterms:modified xsi:type="dcterms:W3CDTF">2026-04-07T21:07:45Z</dcterms:modified>
  <dc:identifier>DAHGL9QpDXM</dc:identifier>
</cp:coreProperties>
</file>